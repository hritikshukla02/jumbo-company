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06349643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06349643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6349643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6349643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063496434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063496434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63496434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063496434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094c5313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094c5313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063496434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063496434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094c5313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094c5313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063496434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063496434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094c5313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094c5313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0f488a68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0f488a6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0f488a68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0f488a68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0f488a68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0f488a6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Jumbo &amp; Company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Monthly Analysis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771325" y="4055400"/>
            <a:ext cx="28983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By: Hritik Shukla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Last updated: 14/12-2025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en-GB" sz="5215">
                <a:solidFill>
                  <a:schemeClr val="dk2"/>
                </a:solidFill>
              </a:rPr>
              <a:t>This analysis evaluates insurance attachment rates for 163 different sellers  across six branch regions to identify performance patterns, understand regional variations, and provide actionable insights for strategic decision-making.</a:t>
            </a:r>
            <a:endParaRPr sz="521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b="1" lang="en-GB" sz="5215">
                <a:solidFill>
                  <a:schemeClr val="dk2"/>
                </a:solidFill>
              </a:rPr>
              <a:t>Key Objectives:</a:t>
            </a:r>
            <a:endParaRPr b="1" sz="5215">
              <a:solidFill>
                <a:schemeClr val="dk2"/>
              </a:solidFill>
            </a:endParaRPr>
          </a:p>
          <a:p>
            <a:pPr indent="-31139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Source Sans Pro"/>
              <a:buChar char="●"/>
            </a:pPr>
            <a:r>
              <a:rPr lang="en-GB" sz="5215">
                <a:solidFill>
                  <a:schemeClr val="dk2"/>
                </a:solidFill>
              </a:rPr>
              <a:t>Benchmark and compare regional performance to identify top-performing branches</a:t>
            </a:r>
            <a:endParaRPr sz="5215">
              <a:solidFill>
                <a:schemeClr val="dk2"/>
              </a:solidFill>
            </a:endParaRPr>
          </a:p>
          <a:p>
            <a:pPr indent="-31139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Source Sans Pro"/>
              <a:buChar char="●"/>
            </a:pPr>
            <a:r>
              <a:rPr lang="en-GB" sz="5215">
                <a:solidFill>
                  <a:schemeClr val="dk2"/>
                </a:solidFill>
              </a:rPr>
              <a:t>Analyze statistical significance of performance differences across regions</a:t>
            </a:r>
            <a:endParaRPr sz="5215">
              <a:solidFill>
                <a:schemeClr val="dk2"/>
              </a:solidFill>
            </a:endParaRPr>
          </a:p>
          <a:p>
            <a:pPr indent="-31139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Source Sans Pro"/>
              <a:buChar char="●"/>
            </a:pPr>
            <a:r>
              <a:rPr lang="en-GB" sz="5215">
                <a:solidFill>
                  <a:schemeClr val="dk2"/>
                </a:solidFill>
              </a:rPr>
              <a:t>Segment stores into performance clusters for targeted interventions</a:t>
            </a:r>
            <a:endParaRPr sz="5215">
              <a:solidFill>
                <a:schemeClr val="dk2"/>
              </a:solidFill>
            </a:endParaRPr>
          </a:p>
          <a:p>
            <a:pPr indent="-311394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Source Sans Pro"/>
              <a:buChar char="●"/>
            </a:pPr>
            <a:r>
              <a:rPr lang="en-GB" sz="5215">
                <a:solidFill>
                  <a:schemeClr val="dk2"/>
                </a:solidFill>
              </a:rPr>
              <a:t>Identify trends and forecast future attachment rates to support proactive planning</a:t>
            </a:r>
            <a:endParaRPr sz="521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en-GB" sz="5215">
                <a:solidFill>
                  <a:schemeClr val="dk2"/>
                </a:solidFill>
              </a:rPr>
              <a:t>Through comprehensive data analysis and visualization, this report delivers evidence-based recommendations to optimize insurance sales effectiveness across all regions.</a:t>
            </a:r>
            <a:endParaRPr sz="521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Dataset Overview &amp; Data Quality Notes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Branch-Level Performance Benchmarking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Performance Trends: High vs Lower Performing Branches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Performance Variability &amp; Consistency Analysis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Store-Level Distribution &amp; Outlier Detection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Store Performance Classification (Quartile-Based)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Regional Concentration of Performance Gaps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● Business Interpretation &amp; Strategic Implications</a:t>
            </a:r>
            <a:endParaRPr b="1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8"/>
              <a:buChar char="●"/>
            </a:pPr>
            <a:r>
              <a:rPr b="1" lang="en-GB" sz="1317">
                <a:solidFill>
                  <a:srgbClr val="000000"/>
                </a:solidFill>
              </a:rPr>
              <a:t>Scope:</a:t>
            </a:r>
            <a:r>
              <a:rPr lang="en-GB" sz="1317">
                <a:solidFill>
                  <a:srgbClr val="000000"/>
                </a:solidFill>
              </a:rPr>
              <a:t> 163 stores across 6 branch regions, tracking insurance attachment rates over 5 months</a:t>
            </a:r>
            <a:endParaRPr sz="1317">
              <a:solidFill>
                <a:srgbClr val="000000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8"/>
              <a:buChar char="●"/>
            </a:pPr>
            <a:r>
              <a:rPr b="1" lang="en-GB" sz="1317">
                <a:solidFill>
                  <a:srgbClr val="000000"/>
                </a:solidFill>
              </a:rPr>
              <a:t>Overall Trend:</a:t>
            </a:r>
            <a:r>
              <a:rPr lang="en-GB" sz="1317">
                <a:solidFill>
                  <a:srgbClr val="000000"/>
                </a:solidFill>
              </a:rPr>
              <a:t> Moderate improvement observed in early months, followed by stabilization, indicating improving sales effectiveness</a:t>
            </a:r>
            <a:endParaRPr sz="1317">
              <a:solidFill>
                <a:srgbClr val="000000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8"/>
              <a:buChar char="●"/>
            </a:pPr>
            <a:r>
              <a:rPr b="1" lang="en-GB" sz="1317">
                <a:solidFill>
                  <a:srgbClr val="000000"/>
                </a:solidFill>
              </a:rPr>
              <a:t>Recent Performance:</a:t>
            </a:r>
            <a:r>
              <a:rPr lang="en-GB" sz="1317">
                <a:solidFill>
                  <a:srgbClr val="000000"/>
                </a:solidFill>
              </a:rPr>
              <a:t> Growth has plateaued in the last 2 months, coinciding with reduced transaction volumes and increased performance variability (higher standard deviation)</a:t>
            </a:r>
            <a:endParaRPr sz="1317">
              <a:solidFill>
                <a:srgbClr val="000000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8"/>
              <a:buChar char="●"/>
            </a:pPr>
            <a:r>
              <a:rPr b="1" lang="en-GB" sz="1317">
                <a:solidFill>
                  <a:srgbClr val="000000"/>
                </a:solidFill>
              </a:rPr>
              <a:t>Outlier Presence:</a:t>
            </a:r>
            <a:r>
              <a:rPr lang="en-GB" sz="1317">
                <a:solidFill>
                  <a:srgbClr val="000000"/>
                </a:solidFill>
              </a:rPr>
              <a:t> Significant outliers detected with maximum attachment rates substantially exceeding the third quartile across regions</a:t>
            </a:r>
            <a:endParaRPr sz="1317">
              <a:solidFill>
                <a:srgbClr val="000000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8"/>
              <a:buChar char="●"/>
            </a:pPr>
            <a:r>
              <a:rPr b="1" lang="en-GB" sz="1317">
                <a:solidFill>
                  <a:srgbClr val="000000"/>
                </a:solidFill>
              </a:rPr>
              <a:t>Data Quality Note:</a:t>
            </a:r>
            <a:r>
              <a:rPr lang="en-GB" sz="1317">
                <a:solidFill>
                  <a:srgbClr val="000000"/>
                </a:solidFill>
              </a:rPr>
              <a:t> Some entries show 80-100% attachment rates but correspond to very low customer counts, requiring careful interpretation during analysis</a:t>
            </a:r>
            <a:endParaRPr sz="13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Two-Tier Performance Pattern: Distinct Leaders, Broad Lower Cluster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>
            <p:ph idx="2" type="body"/>
          </p:nvPr>
        </p:nvSpPr>
        <p:spPr>
          <a:xfrm>
            <a:off x="4638750" y="180020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Top tier:</a:t>
            </a:r>
            <a:r>
              <a:rPr lang="en-GB" sz="1100">
                <a:solidFill>
                  <a:srgbClr val="000000"/>
                </a:solidFill>
              </a:rPr>
              <a:t> Pune (27.7%) and Delhi_NCR (24.4%) form the high-performance cluster, converting approximately 1 in 4 customers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Bottom tier:</a:t>
            </a:r>
            <a:r>
              <a:rPr lang="en-GB" sz="1100">
                <a:solidFill>
                  <a:srgbClr val="000000"/>
                </a:solidFill>
              </a:rPr>
              <a:t> Four branches (Mumbai, Thane, Gujarat, Telangana) range from 11.8% to 17.3%, converting only 1 in 7-8 customers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Performance gap:</a:t>
            </a:r>
            <a:r>
              <a:rPr lang="en-GB" sz="1100">
                <a:solidFill>
                  <a:srgbClr val="000000"/>
                </a:solidFill>
              </a:rPr>
              <a:t> 12 percentage point difference between high and low performers represents an 81% effectiveness gap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Overall benchmark:</a:t>
            </a:r>
            <a:r>
              <a:rPr lang="en-GB" sz="1100">
                <a:solidFill>
                  <a:srgbClr val="000000"/>
                </a:solidFill>
              </a:rPr>
              <a:t> Only 2 out of 6 branches (33%) exceed the company average of 18%, indicating significant improvement potential</a:t>
            </a:r>
            <a:endParaRPr sz="1100"/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00" y="1990725"/>
            <a:ext cx="4005680" cy="22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Gap is Widening, Not Closing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4572000" y="1990725"/>
            <a:ext cx="4134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Diverging trajectories:</a:t>
            </a:r>
            <a:r>
              <a:rPr lang="en-GB" sz="1100">
                <a:solidFill>
                  <a:srgbClr val="000000"/>
                </a:solidFill>
              </a:rPr>
              <a:t> High performers improved from 19.5% (Aug) to 29.5% (Nov) before slight December decline, while lower performers grew modestly from 9% to 18%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Gap expansion:</a:t>
            </a:r>
            <a:r>
              <a:rPr lang="en-GB" sz="1100">
                <a:solidFill>
                  <a:srgbClr val="000000"/>
                </a:solidFill>
              </a:rPr>
              <a:t> Performance differential increased from 10 percentage points (August) to 11.4 percentage points (December), showing the divide is growing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Consistency over time:</a:t>
            </a:r>
            <a:r>
              <a:rPr lang="en-GB" sz="1100">
                <a:solidFill>
                  <a:srgbClr val="000000"/>
                </a:solidFill>
              </a:rPr>
              <a:t> High performers maintained leadership throughout all 5 months, proving this is systematic rather than seasonal variation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Momentum concern:</a:t>
            </a:r>
            <a:r>
              <a:rPr lang="en-GB" sz="1100">
                <a:solidFill>
                  <a:srgbClr val="000000"/>
                </a:solidFill>
              </a:rPr>
              <a:t> Lower performers showed stagnation in Oct-Nov period while high performers continued strong growth, suggesting different growth capabilitie</a:t>
            </a:r>
            <a:r>
              <a:rPr lang="en-GB" sz="1100">
                <a:solidFill>
                  <a:srgbClr val="000000"/>
                </a:solidFill>
              </a:rPr>
              <a:t>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Observed trends are descriptive and do not imply causality.</a:t>
            </a:r>
            <a:endParaRPr b="1" sz="1100">
              <a:solidFill>
                <a:srgbClr val="000000"/>
              </a:solidFill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5"/>
            <a:ext cx="3614300" cy="2310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Paradox of Success: Top Performers Show Higher Variability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>
            <p:ph idx="2" type="body"/>
          </p:nvPr>
        </p:nvSpPr>
        <p:spPr>
          <a:xfrm>
            <a:off x="4638675" y="1894809"/>
            <a:ext cx="4020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-300250" lvl="0" marL="46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Higher averages, higher variability:</a:t>
            </a:r>
            <a:r>
              <a:rPr lang="en-GB" sz="1100">
                <a:solidFill>
                  <a:srgbClr val="000000"/>
                </a:solidFill>
              </a:rPr>
              <a:t> Top-performing branches (e.g., Pune, Delhi_NCR) show strong average attachment rates but </a:t>
            </a:r>
            <a:r>
              <a:rPr b="1" lang="en-GB" sz="1100">
                <a:solidFill>
                  <a:srgbClr val="000000"/>
                </a:solidFill>
              </a:rPr>
              <a:t>large store-level performance dispersion</a:t>
            </a:r>
            <a:endParaRPr b="1" sz="1100">
              <a:solidFill>
                <a:srgbClr val="000000"/>
              </a:solidFill>
            </a:endParaRPr>
          </a:p>
          <a:p>
            <a:pPr indent="-300250" lvl="0" marL="46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Success driven by few stores:</a:t>
            </a:r>
            <a:r>
              <a:rPr lang="en-GB" sz="1100">
                <a:solidFill>
                  <a:srgbClr val="000000"/>
                </a:solidFill>
              </a:rPr>
              <a:t> Branch-level strength is largely influenced by </a:t>
            </a:r>
            <a:r>
              <a:rPr b="1" lang="en-GB" sz="1100">
                <a:solidFill>
                  <a:srgbClr val="000000"/>
                </a:solidFill>
              </a:rPr>
              <a:t>a subset of exceptional performers</a:t>
            </a:r>
            <a:r>
              <a:rPr lang="en-GB" sz="1100">
                <a:solidFill>
                  <a:srgbClr val="000000"/>
                </a:solidFill>
              </a:rPr>
              <a:t>, not uniform execution</a:t>
            </a:r>
            <a:endParaRPr sz="1100">
              <a:solidFill>
                <a:srgbClr val="000000"/>
              </a:solidFill>
            </a:endParaRPr>
          </a:p>
          <a:p>
            <a:pPr indent="-300250" lvl="0" marL="46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Lower performers are more consistent:</a:t>
            </a:r>
            <a:r>
              <a:rPr lang="en-GB" sz="1100">
                <a:solidFill>
                  <a:srgbClr val="000000"/>
                </a:solidFill>
              </a:rPr>
              <a:t> Weaker branches exhibit </a:t>
            </a:r>
            <a:r>
              <a:rPr b="1" lang="en-GB" sz="1100">
                <a:solidFill>
                  <a:srgbClr val="000000"/>
                </a:solidFill>
              </a:rPr>
              <a:t>narrower performance ranges</a:t>
            </a:r>
            <a:r>
              <a:rPr lang="en-GB" sz="1100">
                <a:solidFill>
                  <a:srgbClr val="000000"/>
                </a:solidFill>
              </a:rPr>
              <a:t>, indicating consistent but suboptimal outcome</a:t>
            </a:r>
            <a:r>
              <a:rPr lang="en-GB" sz="1100">
                <a:solidFill>
                  <a:srgbClr val="000000"/>
                </a:solidFill>
              </a:rPr>
              <a:t>s</a:t>
            </a:r>
            <a:endParaRPr sz="1100">
              <a:solidFill>
                <a:srgbClr val="000000"/>
              </a:solidFill>
            </a:endParaRPr>
          </a:p>
          <a:p>
            <a:pPr indent="-300250" lvl="0" marL="46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Implication:</a:t>
            </a:r>
            <a:r>
              <a:rPr lang="en-GB" sz="1100">
                <a:solidFill>
                  <a:srgbClr val="000000"/>
                </a:solidFill>
              </a:rPr>
              <a:t> Sustainable improvement requires </a:t>
            </a:r>
            <a:r>
              <a:rPr b="1" lang="en-GB" sz="1100">
                <a:solidFill>
                  <a:srgbClr val="000000"/>
                </a:solidFill>
              </a:rPr>
              <a:t>scaling top-store best practices</a:t>
            </a:r>
            <a:r>
              <a:rPr lang="en-GB" sz="1100">
                <a:solidFill>
                  <a:srgbClr val="000000"/>
                </a:solidFill>
              </a:rPr>
              <a:t> and </a:t>
            </a:r>
            <a:r>
              <a:rPr b="1" lang="en-GB" sz="1100">
                <a:solidFill>
                  <a:srgbClr val="000000"/>
                </a:solidFill>
              </a:rPr>
              <a:t>reducing variability</a:t>
            </a:r>
            <a:r>
              <a:rPr lang="en-GB" sz="1100">
                <a:solidFill>
                  <a:srgbClr val="000000"/>
                </a:solidFill>
              </a:rPr>
              <a:t>, not relying on outliers</a:t>
            </a:r>
            <a:endParaRPr b="1" sz="1100">
              <a:solidFill>
                <a:srgbClr val="000000"/>
              </a:solidFill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5"/>
            <a:ext cx="3686100" cy="2223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Performance Distribution and Outliers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 txBox="1"/>
          <p:nvPr>
            <p:ph idx="2" type="body"/>
          </p:nvPr>
        </p:nvSpPr>
        <p:spPr>
          <a:xfrm>
            <a:off x="4505250" y="1810882"/>
            <a:ext cx="4261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Performance dispersion:</a:t>
            </a:r>
            <a:r>
              <a:rPr lang="en-GB" sz="1100">
                <a:solidFill>
                  <a:srgbClr val="000000"/>
                </a:solidFill>
              </a:rPr>
              <a:t> Most branches exhibit wide performance spreads (~20–30 percentage points), highlighting significant store-level variability within regions.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Outlier identification:</a:t>
            </a:r>
            <a:r>
              <a:rPr lang="en-GB" sz="1100">
                <a:solidFill>
                  <a:srgbClr val="000000"/>
                </a:solidFill>
              </a:rPr>
              <a:t> Six stores were identified as statistical outliers across branches, representing extreme cases that merit focused store-level review.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Distribution shape:</a:t>
            </a:r>
            <a:r>
              <a:rPr lang="en-GB" sz="1100">
                <a:solidFill>
                  <a:srgbClr val="000000"/>
                </a:solidFill>
              </a:rPr>
              <a:t> Median (red) and mean (blue dashed) values are closely aligned for most branches, suggesting relatively symmetric distributions without strong skewness.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Consistency across branches:</a:t>
            </a:r>
            <a:r>
              <a:rPr lang="en-GB" sz="1100">
                <a:solidFill>
                  <a:srgbClr val="000000"/>
                </a:solidFill>
              </a:rPr>
              <a:t> Interquartile ranges vary by branch—Gujarat and Telangana show tighter, more consistent performance, while Delhi_Ncr and Pune display higher variability.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Performance is balanced but polarized: </a:t>
            </a:r>
            <a:r>
              <a:rPr lang="en-GB" sz="1100">
                <a:solidFill>
                  <a:srgbClr val="000000"/>
                </a:solidFill>
              </a:rPr>
              <a:t>1 in 4 stores need urgent support.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48" y="1999239"/>
            <a:ext cx="3686101" cy="243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Overall Store Performance Distribution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>
            <p:ph idx="2" type="body"/>
          </p:nvPr>
        </p:nvSpPr>
        <p:spPr>
          <a:xfrm>
            <a:off x="4638675" y="1990725"/>
            <a:ext cx="4116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Performance distribution:</a:t>
            </a:r>
            <a:r>
              <a:rPr lang="en-GB" sz="1100">
                <a:solidFill>
                  <a:srgbClr val="000000"/>
                </a:solidFill>
              </a:rPr>
              <a:t> 25% of stores are classified as high performers, ~50% as average performers, and ~25% as low performers based on quartile-driven statistical classification.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Intervention scope:</a:t>
            </a:r>
            <a:r>
              <a:rPr lang="en-GB" sz="1100">
                <a:solidFill>
                  <a:srgbClr val="000000"/>
                </a:solidFill>
              </a:rPr>
              <a:t> 41 stores (25%) identified as requiring immediate attention, indicating a focused and manageable improvement opportunity.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Success models:</a:t>
            </a:r>
            <a:r>
              <a:rPr lang="en-GB" sz="1100">
                <a:solidFill>
                  <a:srgbClr val="000000"/>
                </a:solidFill>
              </a:rPr>
              <a:t> 41 stores (top quartile + positive outliers) act as internal benchmarks for best-practice replication.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Action priority:</a:t>
            </a:r>
            <a:r>
              <a:rPr lang="en-GB" sz="1100">
                <a:solidFill>
                  <a:srgbClr val="000000"/>
                </a:solidFill>
              </a:rPr>
              <a:t> The classification framework enables targeted resource allocation—scaling proven practices from top performers while prioritizing intensive support for the bottom quartile.</a:t>
            </a:r>
            <a:endParaRPr sz="1100"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077" y="1990725"/>
            <a:ext cx="3516614" cy="24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January Forecast - December Actual vs January Projected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>
            <p:ph idx="2" type="body"/>
          </p:nvPr>
        </p:nvSpPr>
        <p:spPr>
          <a:xfrm>
            <a:off x="4505250" y="1906798"/>
            <a:ext cx="4201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Growth-led outlook:</a:t>
            </a:r>
            <a:r>
              <a:rPr lang="en-GB" sz="1100">
                <a:solidFill>
                  <a:srgbClr val="000000"/>
                </a:solidFill>
              </a:rPr>
              <a:t> All </a:t>
            </a:r>
            <a:r>
              <a:rPr b="1" lang="en-GB" sz="1100">
                <a:solidFill>
                  <a:srgbClr val="000000"/>
                </a:solidFill>
              </a:rPr>
              <a:t>6 branches</a:t>
            </a:r>
            <a:r>
              <a:rPr lang="en-GB" sz="1100">
                <a:solidFill>
                  <a:srgbClr val="000000"/>
                </a:solidFill>
              </a:rPr>
              <a:t> are forecasted to grow in January (</a:t>
            </a:r>
            <a:r>
              <a:rPr b="1" lang="en-GB" sz="1100">
                <a:solidFill>
                  <a:srgbClr val="000000"/>
                </a:solidFill>
              </a:rPr>
              <a:t>+1.6% to +9.2%</a:t>
            </a:r>
            <a:r>
              <a:rPr lang="en-GB" sz="1100">
                <a:solidFill>
                  <a:srgbClr val="000000"/>
                </a:solidFill>
              </a:rPr>
              <a:t>), indicating overall upward momentum.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Gap persists:</a:t>
            </a:r>
            <a:r>
              <a:rPr lang="en-GB" sz="1100">
                <a:solidFill>
                  <a:srgbClr val="000000"/>
                </a:solidFill>
              </a:rPr>
              <a:t> Top branches (</a:t>
            </a:r>
            <a:r>
              <a:rPr b="1" lang="en-GB" sz="1100">
                <a:solidFill>
                  <a:srgbClr val="000000"/>
                </a:solidFill>
              </a:rPr>
              <a:t>Pune, Delhi NCR</a:t>
            </a:r>
            <a:r>
              <a:rPr lang="en-GB" sz="1100">
                <a:solidFill>
                  <a:srgbClr val="000000"/>
                </a:solidFill>
              </a:rPr>
              <a:t>) remain projected at </a:t>
            </a:r>
            <a:r>
              <a:rPr b="1" lang="en-GB" sz="1100">
                <a:solidFill>
                  <a:srgbClr val="000000"/>
                </a:solidFill>
              </a:rPr>
              <a:t>32–38%</a:t>
            </a:r>
            <a:r>
              <a:rPr lang="en-GB" sz="1100">
                <a:solidFill>
                  <a:srgbClr val="000000"/>
                </a:solidFill>
              </a:rPr>
              <a:t>, while lower performers stay near </a:t>
            </a:r>
            <a:r>
              <a:rPr b="1" lang="en-GB" sz="1100">
                <a:solidFill>
                  <a:srgbClr val="000000"/>
                </a:solidFill>
              </a:rPr>
              <a:t>18–21%</a:t>
            </a:r>
            <a:r>
              <a:rPr lang="en-GB" sz="1100">
                <a:solidFill>
                  <a:srgbClr val="000000"/>
                </a:solidFill>
              </a:rPr>
              <a:t>, showing limited natural convergence.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Localized risk remains:</a:t>
            </a:r>
            <a:r>
              <a:rPr lang="en-GB" sz="1100">
                <a:solidFill>
                  <a:srgbClr val="000000"/>
                </a:solidFill>
              </a:rPr>
              <a:t> </a:t>
            </a:r>
            <a:r>
              <a:rPr b="1" lang="en-GB" sz="1100">
                <a:solidFill>
                  <a:srgbClr val="000000"/>
                </a:solidFill>
              </a:rPr>
              <a:t>23% of stores (38)</a:t>
            </a:r>
            <a:r>
              <a:rPr lang="en-GB" sz="1100">
                <a:solidFill>
                  <a:srgbClr val="000000"/>
                </a:solidFill>
              </a:rPr>
              <a:t> show declining trends, primarily in </a:t>
            </a:r>
            <a:r>
              <a:rPr b="1" lang="en-GB" sz="1100">
                <a:solidFill>
                  <a:srgbClr val="000000"/>
                </a:solidFill>
              </a:rPr>
              <a:t>Gujarat and Thane</a:t>
            </a:r>
            <a:r>
              <a:rPr lang="en-GB" sz="1100">
                <a:solidFill>
                  <a:srgbClr val="000000"/>
                </a:solidFill>
              </a:rPr>
              <a:t>, requiring targeted intervention.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Directional confidence:</a:t>
            </a:r>
            <a:r>
              <a:rPr lang="en-GB" sz="1100">
                <a:solidFill>
                  <a:srgbClr val="000000"/>
                </a:solidFill>
              </a:rPr>
              <a:t> Store-level confidence is limited, but </a:t>
            </a:r>
            <a:r>
              <a:rPr b="1" lang="en-GB" sz="1100">
                <a:solidFill>
                  <a:srgbClr val="000000"/>
                </a:solidFill>
              </a:rPr>
              <a:t>branch-level signals (Avg R² ≈ 0.55)</a:t>
            </a:r>
            <a:r>
              <a:rPr lang="en-GB" sz="1100">
                <a:solidFill>
                  <a:srgbClr val="000000"/>
                </a:solidFill>
              </a:rPr>
              <a:t> are strong enough to guide planning decisions.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783" y="1810882"/>
            <a:ext cx="2911999" cy="268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1213350" y="4476877"/>
            <a:ext cx="7097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Forecast based on hierarchical model combining store (60%) and branch (40%) trends using 5-month historical data with adaptive weighting.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Core Problem &amp; Opportunity</a:t>
            </a:r>
            <a:endParaRPr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The Core Problem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Untapped upside:</a:t>
            </a:r>
            <a:r>
              <a:rPr lang="en-GB" sz="1100">
                <a:solidFill>
                  <a:srgbClr val="000000"/>
                </a:solidFill>
              </a:rPr>
              <a:t> A </a:t>
            </a:r>
            <a:r>
              <a:rPr b="1" lang="en-GB" sz="1100">
                <a:solidFill>
                  <a:srgbClr val="000000"/>
                </a:solidFill>
              </a:rPr>
              <a:t>12 pp gap</a:t>
            </a:r>
            <a:r>
              <a:rPr lang="en-GB" sz="1100">
                <a:solidFill>
                  <a:srgbClr val="000000"/>
                </a:solidFill>
              </a:rPr>
              <a:t> means lower performers operate at only </a:t>
            </a:r>
            <a:r>
              <a:rPr b="1" lang="en-GB" sz="1100">
                <a:solidFill>
                  <a:srgbClr val="000000"/>
                </a:solidFill>
              </a:rPr>
              <a:t>~55% of top-branch effectiveness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Systematic, not random:</a:t>
            </a:r>
            <a:r>
              <a:rPr lang="en-GB" sz="1100">
                <a:solidFill>
                  <a:srgbClr val="000000"/>
                </a:solidFill>
              </a:rPr>
              <a:t> Branch location explains </a:t>
            </a:r>
            <a:r>
              <a:rPr b="1" lang="en-GB" sz="1100">
                <a:solidFill>
                  <a:srgbClr val="000000"/>
                </a:solidFill>
              </a:rPr>
              <a:t>~32% of performance variance</a:t>
            </a:r>
            <a:r>
              <a:rPr lang="en-GB" sz="1100">
                <a:solidFill>
                  <a:srgbClr val="000000"/>
                </a:solidFill>
              </a:rPr>
              <a:t> (p &lt; 0.000001)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Gap is widening:</a:t>
            </a:r>
            <a:r>
              <a:rPr lang="en-GB" sz="1100">
                <a:solidFill>
                  <a:srgbClr val="000000"/>
                </a:solidFill>
              </a:rPr>
              <a:t> Performance spread increased </a:t>
            </a:r>
            <a:r>
              <a:rPr b="1" lang="en-GB" sz="1100">
                <a:solidFill>
                  <a:srgbClr val="000000"/>
                </a:solidFill>
              </a:rPr>
              <a:t>~20% over 5 months</a:t>
            </a:r>
            <a:r>
              <a:rPr lang="en-GB" sz="1100">
                <a:solidFill>
                  <a:srgbClr val="000000"/>
                </a:solidFill>
              </a:rPr>
              <a:t>, favoring current leaders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4" name="Google Shape;204;p23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The Opportunity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Proven, repeatable success:</a:t>
            </a:r>
            <a:r>
              <a:rPr lang="en-GB" sz="1100">
                <a:solidFill>
                  <a:srgbClr val="000000"/>
                </a:solidFill>
              </a:rPr>
              <a:t> Pune &amp; Delhi_NCR consistently achieve </a:t>
            </a:r>
            <a:r>
              <a:rPr b="1" lang="en-GB" sz="1100">
                <a:solidFill>
                  <a:srgbClr val="000000"/>
                </a:solidFill>
              </a:rPr>
              <a:t>26–28% attachment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High ROI lever:</a:t>
            </a:r>
            <a:r>
              <a:rPr lang="en-GB" sz="1100">
                <a:solidFill>
                  <a:srgbClr val="000000"/>
                </a:solidFill>
              </a:rPr>
              <a:t> Closing </a:t>
            </a:r>
            <a:r>
              <a:rPr b="1" lang="en-GB" sz="1100">
                <a:solidFill>
                  <a:srgbClr val="000000"/>
                </a:solidFill>
              </a:rPr>
              <a:t>50% of the gap</a:t>
            </a:r>
            <a:r>
              <a:rPr lang="en-GB" sz="1100">
                <a:solidFill>
                  <a:srgbClr val="000000"/>
                </a:solidFill>
              </a:rPr>
              <a:t> (14% → 20%) implies </a:t>
            </a:r>
            <a:r>
              <a:rPr b="1" lang="en-GB" sz="1100">
                <a:solidFill>
                  <a:srgbClr val="000000"/>
                </a:solidFill>
              </a:rPr>
              <a:t>40%+ revenue uplift</a:t>
            </a:r>
            <a:r>
              <a:rPr lang="en-GB" sz="1100">
                <a:solidFill>
                  <a:srgbClr val="000000"/>
                </a:solidFill>
              </a:rPr>
              <a:t> in lagging regions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Execution is feasible:</a:t>
            </a:r>
            <a:r>
              <a:rPr lang="en-GB" sz="1100">
                <a:solidFill>
                  <a:srgbClr val="000000"/>
                </a:solidFill>
              </a:rPr>
              <a:t> Limited set of </a:t>
            </a:r>
            <a:r>
              <a:rPr b="1" lang="en-GB" sz="1100">
                <a:solidFill>
                  <a:srgbClr val="000000"/>
                </a:solidFill>
              </a:rPr>
              <a:t>high-risk stores</a:t>
            </a:r>
            <a:r>
              <a:rPr lang="en-GB" sz="1100">
                <a:solidFill>
                  <a:srgbClr val="000000"/>
                </a:solidFill>
              </a:rPr>
              <a:t> and </a:t>
            </a:r>
            <a:r>
              <a:rPr b="1" lang="en-GB" sz="1100">
                <a:solidFill>
                  <a:srgbClr val="000000"/>
                </a:solidFill>
              </a:rPr>
              <a:t>underperforming branches</a:t>
            </a:r>
            <a:r>
              <a:rPr lang="en-GB" sz="1100">
                <a:solidFill>
                  <a:srgbClr val="000000"/>
                </a:solidFill>
              </a:rPr>
              <a:t> enables focused action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5" name="Google Shape;205;p23"/>
          <p:cNvSpPr txBox="1"/>
          <p:nvPr/>
        </p:nvSpPr>
        <p:spPr>
          <a:xfrm>
            <a:off x="819150" y="4186725"/>
            <a:ext cx="75057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/>
              <a:t>Key takeaway:</a:t>
            </a:r>
            <a:r>
              <a:rPr b="1" lang="en-GB" sz="1100"/>
              <a:t> </a:t>
            </a:r>
            <a:r>
              <a:rPr lang="en-GB" sz="1100"/>
              <a:t>The issue is structural, measurable, and solvable—not a market limitation.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Strategic Imperatives (90-Day Plan)</a:t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What Must Be Done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Immediate (0–30 days):</a:t>
            </a:r>
            <a:r>
              <a:rPr lang="en-GB" sz="1100">
                <a:solidFill>
                  <a:srgbClr val="000000"/>
                </a:solidFill>
              </a:rPr>
              <a:t> Deep-dive Pune &amp; Delhi_NCR playbooks</a:t>
            </a:r>
            <a:br>
              <a:rPr lang="en-GB" sz="1100">
                <a:solidFill>
                  <a:srgbClr val="000000"/>
                </a:solidFill>
              </a:rPr>
            </a:br>
            <a:r>
              <a:rPr lang="en-GB" sz="1100">
                <a:solidFill>
                  <a:srgbClr val="000000"/>
                </a:solidFill>
              </a:rPr>
              <a:t> </a:t>
            </a:r>
            <a:r>
              <a:rPr i="1" lang="en-GB" sz="1100">
                <a:solidFill>
                  <a:srgbClr val="000000"/>
                </a:solidFill>
              </a:rPr>
              <a:t>(training, incentives, scripts, store ops, team management)</a:t>
            </a:r>
            <a:br>
              <a:rPr i="1" lang="en-GB" sz="1100">
                <a:solidFill>
                  <a:srgbClr val="000000"/>
                </a:solidFill>
              </a:rPr>
            </a:br>
            <a:endParaRPr i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Near-term (30–60 days):</a:t>
            </a:r>
            <a:r>
              <a:rPr lang="en-GB" sz="1100">
                <a:solidFill>
                  <a:srgbClr val="000000"/>
                </a:solidFill>
              </a:rPr>
              <a:t> Pilot best practices in </a:t>
            </a:r>
            <a:r>
              <a:rPr b="1" lang="en-GB" sz="1100">
                <a:solidFill>
                  <a:srgbClr val="000000"/>
                </a:solidFill>
              </a:rPr>
              <a:t>one underperforming branch</a:t>
            </a:r>
            <a:r>
              <a:rPr lang="en-GB" sz="1100">
                <a:solidFill>
                  <a:srgbClr val="000000"/>
                </a:solidFill>
              </a:rPr>
              <a:t> with weekly tracking</a:t>
            </a:r>
            <a:br>
              <a:rPr lang="en-GB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Medium-term (60–90 days):</a:t>
            </a:r>
            <a:r>
              <a:rPr lang="en-GB" sz="1100">
                <a:solidFill>
                  <a:srgbClr val="000000"/>
                </a:solidFill>
              </a:rPr>
              <a:t> Scale validated interventions to remaining low performers with central support</a:t>
            </a:r>
            <a:br>
              <a:rPr lang="en-GB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</a:rPr>
              <a:t>Ongoing:</a:t>
            </a:r>
            <a:r>
              <a:rPr lang="en-GB" sz="1100">
                <a:solidFill>
                  <a:srgbClr val="000000"/>
                </a:solidFill>
              </a:rPr>
              <a:t> Monthly branch reviews with </a:t>
            </a:r>
            <a:r>
              <a:rPr b="1" lang="en-GB" sz="1100">
                <a:solidFill>
                  <a:srgbClr val="000000"/>
                </a:solidFill>
              </a:rPr>
              <a:t>early-warning signals</a:t>
            </a:r>
            <a:r>
              <a:rPr lang="en-GB" sz="1100">
                <a:solidFill>
                  <a:srgbClr val="000000"/>
                </a:solidFill>
              </a:rPr>
              <a:t> using forecast models</a:t>
            </a:r>
            <a:br>
              <a:rPr lang="en-GB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GB" sz="1100">
                <a:solidFill>
                  <a:srgbClr val="000000"/>
                </a:solidFill>
              </a:rPr>
              <a:t>Objective</a:t>
            </a:r>
            <a:r>
              <a:rPr i="1" lang="en-GB" sz="1100">
                <a:solidFill>
                  <a:srgbClr val="000000"/>
                </a:solidFill>
              </a:rPr>
              <a:t>:</a:t>
            </a:r>
            <a:r>
              <a:rPr lang="en-GB" sz="1100">
                <a:solidFill>
                  <a:srgbClr val="000000"/>
                </a:solidFill>
              </a:rPr>
              <a:t> Reduce variance, replicate success, and prevent future divergence.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Validation: Why We Can Trust These Findings</a:t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Sample size:</a:t>
            </a:r>
            <a:r>
              <a:rPr lang="en-GB" sz="1100">
                <a:solidFill>
                  <a:srgbClr val="000000"/>
                </a:solidFill>
              </a:rPr>
              <a:t> 163 stores × 5 months = 815 data points analyzed, providing statistically robust conclusions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ANOVA results:</a:t>
            </a:r>
            <a:r>
              <a:rPr lang="en-GB" sz="1100">
                <a:solidFill>
                  <a:srgbClr val="000000"/>
                </a:solidFill>
              </a:rPr>
              <a:t> F-statistic = 14.54, p-value &lt; 0.000001 confirms branch differences are real, not chance variation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Effect size:</a:t>
            </a:r>
            <a:r>
              <a:rPr lang="en-GB" sz="1100">
                <a:solidFill>
                  <a:srgbClr val="000000"/>
                </a:solidFill>
              </a:rPr>
              <a:t> Branch location explains 31.65% of all performance variance—the single largest controllable factor identified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Confidence:</a:t>
            </a:r>
            <a:r>
              <a:rPr lang="en-GB" sz="1100">
                <a:solidFill>
                  <a:srgbClr val="000000"/>
                </a:solidFill>
              </a:rPr>
              <a:t> 8 out of 8 cross-tier pairwise comparisons statistically significant (p &lt; 0.05), confirming distinct performance clusters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